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46"/>
    <p:restoredTop sz="94795"/>
  </p:normalViewPr>
  <p:slideViewPr>
    <p:cSldViewPr snapToGrid="0">
      <p:cViewPr varScale="1">
        <p:scale>
          <a:sx n="101" d="100"/>
          <a:sy n="101" d="100"/>
        </p:scale>
        <p:origin x="21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4AAB7-7160-8EB6-8B35-87B238FC54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4AD4B4-2032-0D2D-1A96-3E5B3DDB5A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ACC3A-7AFA-2853-940E-C75B04E90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68C0-5D5E-0947-AC56-AA4C182D7BF2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8C5AD-5C3A-000D-CCE5-9BADB8C03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EBFDB-63FF-0832-0A24-FFDB375B9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5BA15-EC29-604F-9ADA-47B65AF49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10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4CF6A-4F26-C6BB-16E6-2CBEBB059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19592-3E87-2BC1-BBE3-C763B723A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64107-AE76-419E-323A-C23B55849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68C0-5D5E-0947-AC56-AA4C182D7BF2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AAFE0-D4FA-6651-8879-54E275EBB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AF668-D321-C494-457E-EC71DCBEB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5BA15-EC29-604F-9ADA-47B65AF49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298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EDBD-5AD7-EDAE-F7CC-8A527A169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63DA13-718C-76CF-1884-4BBD4286B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2C534-5E05-9ED4-8C26-0D8219295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68C0-5D5E-0947-AC56-AA4C182D7BF2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F724F-5241-9D9B-D261-007BB17DC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C3B42-EEFD-6E68-B7F8-5BDAC5BC7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5BA15-EC29-604F-9ADA-47B65AF49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14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5EA3E-06E3-F0C8-9A31-EED85A8FA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9A931-A719-56C7-F608-2CCB6C49D7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70BC4-D54C-6046-A00A-1161395B2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1A57C-4C5D-8A22-8A58-DF78D0C43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68C0-5D5E-0947-AC56-AA4C182D7BF2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7645EC-5804-1790-1A70-AA03A4649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A97010-482A-B6CE-2A05-619F2E2A2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5BA15-EC29-604F-9ADA-47B65AF49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989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C03F3-8EC7-843B-5574-DFC151333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E8532-1EBE-7E8C-4473-18058F503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93DB9A-C712-ADD6-40F3-CC720EECA7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4F091B-AC73-F639-A39B-46A43FE218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5E660F-C9F1-7038-A66A-F862E3714F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838F24-B119-1BDD-4BCF-BDC63B8B6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68C0-5D5E-0947-AC56-AA4C182D7BF2}" type="datetimeFigureOut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4A4CBB-4E36-1506-7601-A6C57EEB8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EED5AB-A492-806E-192E-15FC3026B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5BA15-EC29-604F-9ADA-47B65AF49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343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DEE78-6BE8-9E60-E7B4-EE0C2CDCC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78483F-02F9-8142-5ACD-95C60169E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68C0-5D5E-0947-AC56-AA4C182D7BF2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5ABDA-5A55-335A-6BA9-9A5A8BFA3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F53AF-8267-BB93-A1B4-641294D3C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5BA15-EC29-604F-9ADA-47B65AF49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307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9659AF-D15B-C5E5-FFA7-9505281B7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68C0-5D5E-0947-AC56-AA4C182D7BF2}" type="datetimeFigureOut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EC5CC3-4CDC-F0E7-B11A-76C6BBE32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C40E2-5C69-2676-7354-08A7738B1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5BA15-EC29-604F-9ADA-47B65AF49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574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962F1-C5AB-BECB-83C9-BDC12CDEB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9E9F3-CA17-B99D-DFD2-20678D5EB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5DB58C-B040-C7CD-F737-F7587CD09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BFD36-E284-C163-5DF7-71F551417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68C0-5D5E-0947-AC56-AA4C182D7BF2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0BE9A-1BE3-C8C6-4710-841833AFA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D7CE3-61D4-9602-B743-50805EDE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5BA15-EC29-604F-9ADA-47B65AF49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027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A2840-94F8-751B-25B3-764216CE6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288F3A-8678-FA8D-B996-ED53C802FF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C9D24B-A338-9497-4BB6-80067EFC9C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7756E-5FA6-3E5D-E710-7866AF6E5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68C0-5D5E-0947-AC56-AA4C182D7BF2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E51A59-9265-2A96-B2C3-BEDBC3ADD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78B04-EEC8-67A1-1331-DBD3A505E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5BA15-EC29-604F-9ADA-47B65AF49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583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71109-FB17-0A3B-4070-A51A53BB2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9EDA0A-E447-0917-CE98-19CDC6160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8F669-F418-89F2-815E-B995CA221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68C0-5D5E-0947-AC56-AA4C182D7BF2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EC1B9-EB9F-5399-FAA9-CB1842CE2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31CFB-2193-EE3C-C561-B305D001A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5BA15-EC29-604F-9ADA-47B65AF49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468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A0741C-B201-E4E9-F197-A161B2DCE4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834802-EC86-0861-2D40-B4CCC5E18A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381F3-DBA0-FBA8-D88B-A3E5AFEBD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468C0-5D5E-0947-AC56-AA4C182D7BF2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6B42F-72D7-06E7-3AB4-D2429FE65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36F13-51E9-1362-E9E8-7549CA76F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5BA15-EC29-604F-9ADA-47B65AF49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951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53FE9C-72C8-033D-D70B-0118F5B73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54A50-EEE7-EC13-E73B-1807059F4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F7268-A774-2DD5-412A-04866FCB6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D468C0-5D5E-0947-AC56-AA4C182D7BF2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2AD08-89A4-F6EB-3A5B-D59E89DBBE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C6CF2-70A5-1176-C550-95CB5A116D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C5BA15-EC29-604F-9ADA-47B65AF49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829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0E69C2-E7F5-3F47-26F4-042F2DC3D1D2}"/>
              </a:ext>
            </a:extLst>
          </p:cNvPr>
          <p:cNvSpPr txBox="1"/>
          <p:nvPr/>
        </p:nvSpPr>
        <p:spPr>
          <a:xfrm>
            <a:off x="0" y="52573"/>
            <a:ext cx="4871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Training based on </a:t>
            </a:r>
            <a:r>
              <a:rPr lang="en-US" dirty="0">
                <a:solidFill>
                  <a:srgbClr val="FF0000"/>
                </a:solidFill>
              </a:rPr>
              <a:t>Deep Neural Networks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624D3-B7B6-C3EE-98FD-CDE2C3EE310C}"/>
              </a:ext>
            </a:extLst>
          </p:cNvPr>
          <p:cNvSpPr txBox="1"/>
          <p:nvPr/>
        </p:nvSpPr>
        <p:spPr>
          <a:xfrm>
            <a:off x="576541" y="520702"/>
            <a:ext cx="387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Arch:  Token Mixer  +  Classifier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03EFB7-15B6-A3E9-07B4-35D629FD0EC8}"/>
              </a:ext>
            </a:extLst>
          </p:cNvPr>
          <p:cNvSpPr txBox="1"/>
          <p:nvPr/>
        </p:nvSpPr>
        <p:spPr>
          <a:xfrm>
            <a:off x="6213449" y="988830"/>
            <a:ext cx="5650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Classifier (MLP block) Function: Predict viral probability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8B63E4-1BEE-9D30-C32E-D2ED2D72CAB7}"/>
              </a:ext>
            </a:extLst>
          </p:cNvPr>
          <p:cNvSpPr txBox="1"/>
          <p:nvPr/>
        </p:nvSpPr>
        <p:spPr>
          <a:xfrm>
            <a:off x="576541" y="988830"/>
            <a:ext cx="4958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Mixer Function: Fuse multi-modal features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2908F9-A5C2-98E6-7207-55E17F5ECB0C}"/>
              </a:ext>
            </a:extLst>
          </p:cNvPr>
          <p:cNvSpPr txBox="1"/>
          <p:nvPr/>
        </p:nvSpPr>
        <p:spPr>
          <a:xfrm>
            <a:off x="576541" y="1653432"/>
            <a:ext cx="3106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There are 2 kinds of features: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379263-658A-2964-ED6C-DEA9193306F0}"/>
              </a:ext>
            </a:extLst>
          </p:cNvPr>
          <p:cNvSpPr txBox="1"/>
          <p:nvPr/>
        </p:nvSpPr>
        <p:spPr>
          <a:xfrm>
            <a:off x="40774" y="2244742"/>
            <a:ext cx="144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 features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7EA536-A9F1-806A-0797-928B2AD1FA72}"/>
              </a:ext>
            </a:extLst>
          </p:cNvPr>
          <p:cNvSpPr txBox="1"/>
          <p:nvPr/>
        </p:nvSpPr>
        <p:spPr>
          <a:xfrm>
            <a:off x="1931083" y="2244742"/>
            <a:ext cx="876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concat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BB7B71-1F7E-9D6F-FD33-1E76A506D8EA}"/>
              </a:ext>
            </a:extLst>
          </p:cNvPr>
          <p:cNvSpPr txBox="1"/>
          <p:nvPr/>
        </p:nvSpPr>
        <p:spPr>
          <a:xfrm>
            <a:off x="3292239" y="2244742"/>
            <a:ext cx="147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Bert encoder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0264BE-4A46-6FD7-5554-495DDA4ABBE4}"/>
              </a:ext>
            </a:extLst>
          </p:cNvPr>
          <p:cNvSpPr txBox="1"/>
          <p:nvPr/>
        </p:nvSpPr>
        <p:spPr>
          <a:xfrm>
            <a:off x="-47608" y="2608816"/>
            <a:ext cx="1610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several strings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FD9764-BB85-D6B3-BC68-09C497F57878}"/>
              </a:ext>
            </a:extLst>
          </p:cNvPr>
          <p:cNvSpPr txBox="1"/>
          <p:nvPr/>
        </p:nvSpPr>
        <p:spPr>
          <a:xfrm>
            <a:off x="1678385" y="2614074"/>
            <a:ext cx="1382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long string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C6ADEF-BEB7-313A-46E3-3FD56FB54C35}"/>
              </a:ext>
            </a:extLst>
          </p:cNvPr>
          <p:cNvSpPr txBox="1"/>
          <p:nvPr/>
        </p:nvSpPr>
        <p:spPr>
          <a:xfrm>
            <a:off x="3587992" y="2614074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(384,1)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E19F4E-A830-DB30-A3CA-C065713C7C57}"/>
              </a:ext>
            </a:extLst>
          </p:cNvPr>
          <p:cNvSpPr txBox="1"/>
          <p:nvPr/>
        </p:nvSpPr>
        <p:spPr>
          <a:xfrm>
            <a:off x="0" y="3775904"/>
            <a:ext cx="10052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Tabular</a:t>
            </a:r>
          </a:p>
          <a:p>
            <a:r>
              <a:rPr lang="en-US" dirty="0"/>
              <a:t>features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A43252-312C-09B2-B5A8-90E4F6945DE0}"/>
              </a:ext>
            </a:extLst>
          </p:cNvPr>
          <p:cNvSpPr txBox="1"/>
          <p:nvPr/>
        </p:nvSpPr>
        <p:spPr>
          <a:xfrm>
            <a:off x="1005275" y="3545073"/>
            <a:ext cx="2085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 Numeric features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B157FC-ABE1-E7A5-97FC-D16E9A75F73C}"/>
              </a:ext>
            </a:extLst>
          </p:cNvPr>
          <p:cNvSpPr txBox="1"/>
          <p:nvPr/>
        </p:nvSpPr>
        <p:spPr>
          <a:xfrm>
            <a:off x="1005275" y="4145236"/>
            <a:ext cx="30046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several  Categorical features</a:t>
            </a:r>
          </a:p>
          <a:p>
            <a:r>
              <a:rPr lang="en-US" dirty="0"/>
              <a:t>(one-hot vector)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CD9C80-6F5F-30B3-8A89-8A48D5B5C056}"/>
              </a:ext>
            </a:extLst>
          </p:cNvPr>
          <p:cNvSpPr txBox="1"/>
          <p:nvPr/>
        </p:nvSpPr>
        <p:spPr>
          <a:xfrm>
            <a:off x="4096249" y="3809867"/>
            <a:ext cx="876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concat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BD9316-2B25-EA92-E0C3-3080A2F573DC}"/>
              </a:ext>
            </a:extLst>
          </p:cNvPr>
          <p:cNvSpPr txBox="1"/>
          <p:nvPr/>
        </p:nvSpPr>
        <p:spPr>
          <a:xfrm>
            <a:off x="4096249" y="4179199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(188,1)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8F7440-453C-6A78-60FF-95F07D89DCA8}"/>
              </a:ext>
            </a:extLst>
          </p:cNvPr>
          <p:cNvSpPr txBox="1"/>
          <p:nvPr/>
        </p:nvSpPr>
        <p:spPr>
          <a:xfrm>
            <a:off x="5542079" y="1653432"/>
            <a:ext cx="5669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There are 4 kinds of traditional feature fusion strategies: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67E609-00C1-9152-9F42-2EE447016848}"/>
              </a:ext>
            </a:extLst>
          </p:cNvPr>
          <p:cNvSpPr txBox="1"/>
          <p:nvPr/>
        </p:nvSpPr>
        <p:spPr>
          <a:xfrm>
            <a:off x="5542079" y="2071956"/>
            <a:ext cx="1395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raw_concat</a:t>
            </a:r>
            <a:endParaRPr lang="en-US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A071D9-35EC-006E-BA5E-90F2382A8102}"/>
              </a:ext>
            </a:extLst>
          </p:cNvPr>
          <p:cNvSpPr txBox="1"/>
          <p:nvPr/>
        </p:nvSpPr>
        <p:spPr>
          <a:xfrm>
            <a:off x="5542079" y="2523121"/>
            <a:ext cx="17362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[text | tabular]</a:t>
            </a:r>
          </a:p>
          <a:p>
            <a:r>
              <a:rPr lang="en-US" dirty="0"/>
              <a:t>(572,1)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234E0E-68F0-E5C7-0303-4F69FE4549CC}"/>
              </a:ext>
            </a:extLst>
          </p:cNvPr>
          <p:cNvSpPr txBox="1"/>
          <p:nvPr/>
        </p:nvSpPr>
        <p:spPr>
          <a:xfrm>
            <a:off x="8419719" y="2071956"/>
            <a:ext cx="2180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projected_concat</a:t>
            </a:r>
            <a:endParaRPr lang="en-US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3A3622-7433-8F3C-8A79-2275D126F164}"/>
              </a:ext>
            </a:extLst>
          </p:cNvPr>
          <p:cNvSpPr txBox="1"/>
          <p:nvPr/>
        </p:nvSpPr>
        <p:spPr>
          <a:xfrm>
            <a:off x="8419719" y="2523121"/>
            <a:ext cx="33391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text → </a:t>
            </a:r>
            <a:r>
              <a:rPr lang="en-US" dirty="0" err="1"/>
              <a:t>proj_dim</a:t>
            </a:r>
            <a:r>
              <a:rPr lang="en-US" dirty="0"/>
              <a:t> 	(64,1)</a:t>
            </a:r>
          </a:p>
          <a:p>
            <a:r>
              <a:rPr lang="en-US" dirty="0"/>
              <a:t>tabular → </a:t>
            </a:r>
            <a:r>
              <a:rPr lang="en-US" dirty="0" err="1"/>
              <a:t>proj_dim</a:t>
            </a:r>
            <a:r>
              <a:rPr lang="en-US" dirty="0"/>
              <a:t>	(64,1)</a:t>
            </a:r>
          </a:p>
          <a:p>
            <a:r>
              <a:rPr lang="en-US" dirty="0" err="1"/>
              <a:t>concat</a:t>
            </a:r>
            <a:r>
              <a:rPr lang="en-US" dirty="0"/>
              <a:t>		(128,1)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13E94C-E0C2-3415-C9C2-D8259CEB0213}"/>
              </a:ext>
            </a:extLst>
          </p:cNvPr>
          <p:cNvSpPr txBox="1"/>
          <p:nvPr/>
        </p:nvSpPr>
        <p:spPr>
          <a:xfrm>
            <a:off x="5546535" y="3802785"/>
            <a:ext cx="17362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weighted_sum</a:t>
            </a:r>
            <a:endParaRPr lang="en-US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453B873-CB4E-15EC-F693-1330D06DDA15}"/>
              </a:ext>
            </a:extLst>
          </p:cNvPr>
          <p:cNvSpPr txBox="1"/>
          <p:nvPr/>
        </p:nvSpPr>
        <p:spPr>
          <a:xfrm>
            <a:off x="5542079" y="4228684"/>
            <a:ext cx="26146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do projection first</a:t>
            </a:r>
          </a:p>
          <a:p>
            <a:r>
              <a:rPr lang="el-GR" dirty="0"/>
              <a:t>α1 * </a:t>
            </a:r>
            <a:r>
              <a:rPr lang="en-US" dirty="0"/>
              <a:t>text + </a:t>
            </a:r>
            <a:r>
              <a:rPr lang="el-GR" dirty="0"/>
              <a:t>α2 * </a:t>
            </a:r>
            <a:r>
              <a:rPr lang="en-US" dirty="0"/>
              <a:t>tabular</a:t>
            </a:r>
          </a:p>
          <a:p>
            <a:r>
              <a:rPr lang="en-US" dirty="0"/>
              <a:t>where </a:t>
            </a:r>
            <a:r>
              <a:rPr lang="el-GR" dirty="0"/>
              <a:t>α1</a:t>
            </a:r>
            <a:r>
              <a:rPr lang="en-US" dirty="0"/>
              <a:t> + </a:t>
            </a:r>
            <a:r>
              <a:rPr lang="el-GR" dirty="0"/>
              <a:t>α2</a:t>
            </a:r>
            <a:r>
              <a:rPr lang="en-US" dirty="0"/>
              <a:t> = 1</a:t>
            </a:r>
          </a:p>
          <a:p>
            <a:r>
              <a:rPr lang="en-US" dirty="0"/>
              <a:t>(guaranteed by </a:t>
            </a:r>
            <a:r>
              <a:rPr lang="en-US" dirty="0" err="1"/>
              <a:t>softmax</a:t>
            </a:r>
            <a:r>
              <a:rPr lang="en-US" dirty="0"/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18EC2D-BA9A-2ED3-4028-3796D4CEDF89}"/>
              </a:ext>
            </a:extLst>
          </p:cNvPr>
          <p:cNvSpPr txBox="1"/>
          <p:nvPr/>
        </p:nvSpPr>
        <p:spPr>
          <a:xfrm>
            <a:off x="8376829" y="3762142"/>
            <a:ext cx="17362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attention_pool</a:t>
            </a:r>
            <a:endParaRPr lang="en-US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1C379E2-C0C3-B7DD-FD1A-DC9AD9D6E6CB}"/>
              </a:ext>
            </a:extLst>
          </p:cNvPr>
          <p:cNvSpPr txBox="1"/>
          <p:nvPr/>
        </p:nvSpPr>
        <p:spPr>
          <a:xfrm>
            <a:off x="8376829" y="4234356"/>
            <a:ext cx="30046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do projection first</a:t>
            </a:r>
            <a:endParaRPr lang="en-US" dirty="0"/>
          </a:p>
          <a:p>
            <a:r>
              <a:rPr lang="en-US" dirty="0"/>
              <a:t>[</a:t>
            </a:r>
            <a:r>
              <a:rPr lang="en-US" dirty="0" err="1"/>
              <a:t>text_token</a:t>
            </a:r>
            <a:r>
              <a:rPr lang="en-US" dirty="0"/>
              <a:t>, </a:t>
            </a:r>
            <a:r>
              <a:rPr lang="en-US" dirty="0" err="1"/>
              <a:t>tabular_token</a:t>
            </a:r>
            <a:r>
              <a:rPr lang="en-US" dirty="0"/>
              <a:t>] </a:t>
            </a:r>
          </a:p>
          <a:p>
            <a:r>
              <a:rPr lang="en-US" dirty="0"/>
              <a:t>→ attention </a:t>
            </a:r>
          </a:p>
          <a:p>
            <a:r>
              <a:rPr lang="en-US" dirty="0"/>
              <a:t>→ pooled output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F3EEEC-5B75-697F-21B1-13EB800CE116}"/>
              </a:ext>
            </a:extLst>
          </p:cNvPr>
          <p:cNvSpPr txBox="1"/>
          <p:nvPr/>
        </p:nvSpPr>
        <p:spPr>
          <a:xfrm>
            <a:off x="-1" y="5898156"/>
            <a:ext cx="121920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sz="1400" dirty="0"/>
              <a:t>Liu, A. A. et al., 2022. A review of feature fusion-based media popularity prediction methods.</a:t>
            </a:r>
            <a:r>
              <a:rPr lang="zh-CN" altLang="en-US" sz="1400" dirty="0"/>
              <a:t> </a:t>
            </a:r>
            <a:r>
              <a:rPr lang="en-SG" sz="1400" dirty="0"/>
              <a:t>Visual Informatics, 6(4), pp.78–89.</a:t>
            </a:r>
          </a:p>
          <a:p>
            <a:r>
              <a:rPr lang="en-SG" sz="1400" dirty="0"/>
              <a:t>Wu, B. et al., 2017. Sequential prediction of social media popularity with deep temporal context networks. arXiv:1712.04443.</a:t>
            </a:r>
          </a:p>
          <a:p>
            <a:r>
              <a:rPr lang="en-SG" sz="1400" dirty="0"/>
              <a:t>Xu, K. et al., 2020. Multimodal deep learning for social media popularity prediction with attention mechanism. In: ACM Multimedia, pp. 4580–4584.</a:t>
            </a:r>
          </a:p>
          <a:p>
            <a:r>
              <a:rPr lang="en-SG" sz="1400" dirty="0"/>
              <a:t>Vaswani, A. et al., 2017. Attention is all you need. </a:t>
            </a:r>
            <a:r>
              <a:rPr lang="en-SG" sz="1400" dirty="0" err="1"/>
              <a:t>NeurIPS</a:t>
            </a:r>
            <a:r>
              <a:rPr lang="en-SG" sz="1400" dirty="0"/>
              <a:t>.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014A736-B33E-A728-EE91-0F5E1ADD13D3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>
            <a:off x="1480976" y="2429408"/>
            <a:ext cx="4501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26A2553-B2F3-1FF3-0243-E62601DABB93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2808054" y="2429408"/>
            <a:ext cx="4841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F3894D4-30E7-CE0A-E623-BA5763B282E6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745958" y="3729739"/>
            <a:ext cx="259317" cy="801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8E989C1-9552-1092-05FA-38449E955610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745958" y="4422235"/>
            <a:ext cx="259317" cy="461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6CAFE95-EE9C-C051-76C0-E5067781EE4F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3090974" y="3729739"/>
            <a:ext cx="1005275" cy="2647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AFA68DD-354D-B365-CFED-31E28D1444B7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 flipV="1">
            <a:off x="4009944" y="3994533"/>
            <a:ext cx="86305" cy="473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4524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E6355B-58D8-F373-0C96-E5AFA36B278C}"/>
              </a:ext>
            </a:extLst>
          </p:cNvPr>
          <p:cNvSpPr txBox="1"/>
          <p:nvPr/>
        </p:nvSpPr>
        <p:spPr>
          <a:xfrm>
            <a:off x="240632" y="252663"/>
            <a:ext cx="2413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Training Results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FFB5532-5B72-5462-2F6E-08EA3C3FC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762836"/>
              </p:ext>
            </p:extLst>
          </p:nvPr>
        </p:nvGraphicFramePr>
        <p:xfrm>
          <a:off x="240632" y="864044"/>
          <a:ext cx="2935706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5498">
                  <a:extLst>
                    <a:ext uri="{9D8B030D-6E8A-4147-A177-3AD203B41FA5}">
                      <a16:colId xmlns:a16="http://schemas.microsoft.com/office/drawing/2014/main" val="1748322950"/>
                    </a:ext>
                  </a:extLst>
                </a:gridCol>
                <a:gridCol w="930208">
                  <a:extLst>
                    <a:ext uri="{9D8B030D-6E8A-4147-A177-3AD203B41FA5}">
                      <a16:colId xmlns:a16="http://schemas.microsoft.com/office/drawing/2014/main" val="41734488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Hy</a:t>
                      </a:r>
                      <a:r>
                        <a:rPr lang="en-US" altLang="zh-CN" dirty="0"/>
                        <a:t>per Parameters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8443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Epochs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071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Learning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1e-5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7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718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Dropout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24145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85D990C-5A09-7BEA-3C6B-5CD7FCD0B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710156"/>
              </p:ext>
            </p:extLst>
          </p:nvPr>
        </p:nvGraphicFramePr>
        <p:xfrm>
          <a:off x="4197684" y="864044"/>
          <a:ext cx="7557168" cy="33325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62485">
                  <a:extLst>
                    <a:ext uri="{9D8B030D-6E8A-4147-A177-3AD203B41FA5}">
                      <a16:colId xmlns:a16="http://schemas.microsoft.com/office/drawing/2014/main" val="3643988815"/>
                    </a:ext>
                  </a:extLst>
                </a:gridCol>
                <a:gridCol w="1961147">
                  <a:extLst>
                    <a:ext uri="{9D8B030D-6E8A-4147-A177-3AD203B41FA5}">
                      <a16:colId xmlns:a16="http://schemas.microsoft.com/office/drawing/2014/main" val="3196602657"/>
                    </a:ext>
                  </a:extLst>
                </a:gridCol>
                <a:gridCol w="1876927">
                  <a:extLst>
                    <a:ext uri="{9D8B030D-6E8A-4147-A177-3AD203B41FA5}">
                      <a16:colId xmlns:a16="http://schemas.microsoft.com/office/drawing/2014/main" val="1798006429"/>
                    </a:ext>
                  </a:extLst>
                </a:gridCol>
                <a:gridCol w="1756609">
                  <a:extLst>
                    <a:ext uri="{9D8B030D-6E8A-4147-A177-3AD203B41FA5}">
                      <a16:colId xmlns:a16="http://schemas.microsoft.com/office/drawing/2014/main" val="3721006420"/>
                    </a:ext>
                  </a:extLst>
                </a:gridCol>
              </a:tblGrid>
              <a:tr h="666505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ROC_AUC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Macro F1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4990118"/>
                  </a:ext>
                </a:extLst>
              </a:tr>
              <a:tr h="666505">
                <a:tc>
                  <a:txBody>
                    <a:bodyPr/>
                    <a:lstStyle/>
                    <a:p>
                      <a:r>
                        <a:rPr lang="en-US" dirty="0" err="1"/>
                        <a:t>raw_concat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0.7732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0.7828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0.7770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5744107"/>
                  </a:ext>
                </a:extLst>
              </a:tr>
              <a:tr h="666505">
                <a:tc>
                  <a:txBody>
                    <a:bodyPr/>
                    <a:lstStyle/>
                    <a:p>
                      <a:r>
                        <a:rPr lang="en-US" dirty="0" err="1"/>
                        <a:t>projected_concat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0.7747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0.7828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0.7770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2726067"/>
                  </a:ext>
                </a:extLst>
              </a:tr>
              <a:tr h="666505">
                <a:tc>
                  <a:txBody>
                    <a:bodyPr/>
                    <a:lstStyle/>
                    <a:p>
                      <a:r>
                        <a:rPr lang="en-US" dirty="0" err="1"/>
                        <a:t>weighted_sum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0.7742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0.7828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0.7770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7289450"/>
                  </a:ext>
                </a:extLst>
              </a:tr>
              <a:tr h="666505">
                <a:tc>
                  <a:txBody>
                    <a:bodyPr/>
                    <a:lstStyle/>
                    <a:p>
                      <a:r>
                        <a:rPr lang="en-US" dirty="0" err="1"/>
                        <a:t>attention_pool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0.7769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0.7828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0.7770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794327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621D9C7-BA57-7885-DC4B-343352882F94}"/>
              </a:ext>
            </a:extLst>
          </p:cNvPr>
          <p:cNvSpPr txBox="1"/>
          <p:nvPr/>
        </p:nvSpPr>
        <p:spPr>
          <a:xfrm>
            <a:off x="6091990" y="4964850"/>
            <a:ext cx="61000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dirty="0"/>
              <a:t>F1 = 2 * (precision * recall) / (precision + recall)</a:t>
            </a:r>
          </a:p>
          <a:p>
            <a:r>
              <a:rPr lang="en-SG" dirty="0"/>
              <a:t>Macro F1 = (F1_class0 + F1_class1) / 2</a:t>
            </a:r>
          </a:p>
          <a:p>
            <a:endParaRPr lang="en-SG" dirty="0"/>
          </a:p>
          <a:p>
            <a:r>
              <a:rPr lang="en-SG" dirty="0"/>
              <a:t>Macro F1 is used as a complementary metric to measure </a:t>
            </a:r>
          </a:p>
          <a:p>
            <a:r>
              <a:rPr lang="en-SG" dirty="0"/>
              <a:t>balanced classification performance across classes.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A94EAD-304A-86DF-AAAB-35D5704E92DB}"/>
              </a:ext>
            </a:extLst>
          </p:cNvPr>
          <p:cNvSpPr txBox="1"/>
          <p:nvPr/>
        </p:nvSpPr>
        <p:spPr>
          <a:xfrm>
            <a:off x="85821" y="4964850"/>
            <a:ext cx="54487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We use ROC-AUC as the primary metric because it evaluates ranking quality across all thresholds, which is more suitable than threshold-dependent metrics when comparing different fusion strategies.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079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382</Words>
  <Application>Microsoft Macintosh PowerPoint</Application>
  <PresentationFormat>Widescreen</PresentationFormat>
  <Paragraphs>77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Kang Lu</dc:creator>
  <cp:lastModifiedBy>Kang Lu</cp:lastModifiedBy>
  <cp:revision>4</cp:revision>
  <dcterms:created xsi:type="dcterms:W3CDTF">2026-04-02T05:56:49Z</dcterms:created>
  <dcterms:modified xsi:type="dcterms:W3CDTF">2026-04-02T07:12:17Z</dcterms:modified>
</cp:coreProperties>
</file>